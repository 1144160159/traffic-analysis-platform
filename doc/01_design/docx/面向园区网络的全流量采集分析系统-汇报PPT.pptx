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面向园区网络的全流量采集分析系统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产品设计与技术设计完善汇报 | 基于课题一：园区网络流量智能检测与分析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01 / 汇报材料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6949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23047"/>
                </a:solidFill>
                <a:latin typeface="Microsoft YaHei"/>
              </a:rPr>
              <a:t>从课题任务到可交付软件系统工程包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6217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全流量采集与高带宽特征识别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多源异构融合与复杂攻击检测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告警、取证、反馈、审计运营闭环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文档体系、测试验收和阶段交付件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627632"/>
            <a:ext cx="3566160" cy="274320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交付范围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57984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4份Word文档重排版
8张工程图
1份汇报PPT
需求-设计-测试追溯矩阵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4709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3687A"/>
                </a:solidFill>
                <a:latin typeface="Microsoft YaHei"/>
              </a:rPr>
              <a:t>修订日期：2026-06-16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课题一业务定位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任务书/实施方案要求转化为软件工程目标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02 / 汇报材料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2743200" cy="1325880"/>
          </a:xfrm>
          <a:prstGeom prst="roundRect">
            <a:avLst/>
          </a:prstGeom>
          <a:solidFill>
            <a:srgbClr val="D9EAF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44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高带宽全流量识别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6479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高速稳定捕获
实时与离线深度解析
特征完整性保障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743200" cy="132588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44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多源异构融合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76479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流量、资产、日志、用户行为
实体对齐与上下文建模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234440"/>
            <a:ext cx="2743200" cy="1325880"/>
          </a:xfrm>
          <a:prstGeom prst="roundRect">
            <a:avLst/>
          </a:prstGeom>
          <a:solidFill>
            <a:srgbClr val="FFF3DC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4416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复杂攻击检测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64792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规则 + 行为 + CEP + 模型
攻击链还原与证据生成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1234440"/>
            <a:ext cx="2423160" cy="1325880"/>
          </a:xfrm>
          <a:prstGeom prst="roundRect">
            <a:avLst/>
          </a:prstGeom>
          <a:solidFill>
            <a:srgbClr val="FFE9E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1344168"/>
            <a:ext cx="2148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可验收闭环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764792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准确率≥95%
误报率&lt;5%
第三方测试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46120"/>
            <a:ext cx="1051560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Microsoft YaHei"/>
              </a:defRPr>
            </a:pPr>
            <a:r>
              <a:t>软件系统必须同时满足科研创新、工程落地和第三方测试留证。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Microsoft YaHei"/>
              </a:defRPr>
            </a:pPr>
            <a:r>
              <a:t>文档不只描述组件，还要说明每个能力点的场景、数据、接口、异常、指标和交付物。</a:t>
            </a:r>
          </a:p>
          <a:p>
            <a:pPr>
              <a:spcAft>
                <a:spcPts val="600"/>
              </a:spcAft>
              <a:defRPr sz="1600">
                <a:solidFill>
                  <a:srgbClr val="1F2D3D"/>
                </a:solidFill>
                <a:latin typeface="Microsoft YaHei"/>
              </a:defRPr>
            </a:pPr>
            <a:r>
              <a:t>本次完善将产品设计、技术设计、选型和研发计划统一到同一套追溯逻辑。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文档体系完善范围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四份文档分别承担不同工程职责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03 / 汇报材料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2560320" cy="3566160"/>
          </a:xfrm>
          <a:prstGeom prst="roundRect">
            <a:avLst/>
          </a:prstGeom>
          <a:solidFill>
            <a:srgbClr val="D9EAF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产品设计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用户角色
页面与交互
能力点细化
验收脚本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280160"/>
            <a:ext cx="2560320" cy="356616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技术设计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10512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系统架构
数据血缘
接口契约
NFR与错误码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280160"/>
            <a:ext cx="2560320" cy="3566160"/>
          </a:xfrm>
          <a:prstGeom prst="roundRect">
            <a:avLst/>
          </a:prstGeom>
          <a:solidFill>
            <a:srgbClr val="FFF3DC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技术选型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10512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选型矩阵
评分维度
替换策略
风险补偿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560320" cy="3566160"/>
          </a:xfrm>
          <a:prstGeom prst="roundRect">
            <a:avLst/>
          </a:prstGeom>
          <a:solidFill>
            <a:srgbClr val="F1EAFE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389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研发计划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1810512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四阶段计划
WBS/RACI
质量门禁
交付清单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产品能力全景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能力从用户价值出发组织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04 / 汇报材料</a:t>
            </a:r>
          </a:p>
        </p:txBody>
      </p:sp>
      <p:pic>
        <p:nvPicPr>
          <p:cNvPr id="6" name="Picture 5" descr="product_capabil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1018520" cy="61979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产品能力点细化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每个能力点补充场景、功能、数据、指标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05 / 汇报材料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337560" cy="1417320"/>
          </a:xfrm>
          <a:prstGeom prst="roundRect">
            <a:avLst/>
          </a:prstGeom>
          <a:solidFill>
            <a:srgbClr val="D9EAF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全流量采集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探针注册、策略下发、健康心跳、丢包监控、PCAP分桶归档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337560" cy="141732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3441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会话/特征工程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764792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五元组归一、Community ID、统计特征、特征集版本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337560" cy="1417320"/>
          </a:xfrm>
          <a:prstGeom prst="roundRect">
            <a:avLst/>
          </a:prstGeom>
          <a:solidFill>
            <a:srgbClr val="FFF3DC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4416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加密流量识别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64792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JA3/JA4、握手、包长序列、方向交替、RTT特征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3337560" cy="1417320"/>
          </a:xfrm>
          <a:prstGeom prst="roundRect">
            <a:avLst/>
          </a:prstGeom>
          <a:solidFill>
            <a:srgbClr val="F1EAFE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多源融合研判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76472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资产、日志、用户行为、流量、告警实体对齐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246120"/>
            <a:ext cx="3337560" cy="1417320"/>
          </a:xfrm>
          <a:prstGeom prst="roundRect">
            <a:avLst/>
          </a:prstGeom>
          <a:solidFill>
            <a:srgbClr val="FFE9E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3558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告警处置闭环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状态机、指派、白名单、反馈、订阅、审计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246120"/>
            <a:ext cx="3337560" cy="1417320"/>
          </a:xfrm>
          <a:prstGeom prst="roundRect">
            <a:avLst/>
          </a:prstGeom>
          <a:solidFill>
            <a:srgbClr val="E8F7F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355848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取证与回溯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776472"/>
            <a:ext cx="2971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PCAP索引、时间窗裁剪、BPF过滤、MinIO/Arkime联动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端到端业务闭环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采集、分析、告警、取证、反馈构成运营闭环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06 / 汇报材料</a:t>
            </a:r>
          </a:p>
        </p:txBody>
      </p:sp>
      <p:pic>
        <p:nvPicPr>
          <p:cNvPr id="6" name="Picture 5" descr="closed_loop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系统逻辑架构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分层边界清晰，符合agent.md约束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07 / 汇报材料</a:t>
            </a:r>
          </a:p>
        </p:txBody>
      </p:sp>
      <p:pic>
        <p:nvPicPr>
          <p:cNvPr id="6" name="Picture 5" descr="tech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关键数据流与血缘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统一事件模型支撑追溯与验收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08 / 汇报材料</a:t>
            </a:r>
          </a:p>
        </p:txBody>
      </p:sp>
      <p:pic>
        <p:nvPicPr>
          <p:cNvPr id="6" name="Picture 5" descr="data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接口与数据契约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Topic、Proto、存储、API统一治理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09 / 汇报材料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560320" cy="3108960"/>
          </a:xfrm>
          <a:prstGeom prst="roundRect">
            <a:avLst/>
          </a:prstGeom>
          <a:solidFill>
            <a:srgbClr val="D9EAF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44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Kafka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flow/session/feature
detections/alerts
pcap/asset/log/user/dlq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34440"/>
            <a:ext cx="2560320" cy="310896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344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Proto事件模型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764792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FlowEvent
SessionEvent
FeatureStat
Alert/Evidence/Asset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234440"/>
            <a:ext cx="2560320" cy="3108960"/>
          </a:xfrm>
          <a:prstGeom prst="roundRect">
            <a:avLst/>
          </a:prstGeom>
          <a:solidFill>
            <a:srgbClr val="FFF3DC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44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多模存储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764792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ClickHouse明细
PostgreSQL元数据
OpenSearch检索
Nebula图谱
MinIO证据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234440"/>
            <a:ext cx="2560320" cy="3108960"/>
          </a:xfrm>
          <a:prstGeom prst="roundRect">
            <a:avLst/>
          </a:prstGeom>
          <a:solidFill>
            <a:srgbClr val="FFE9E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44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API与治理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1764792"/>
            <a:ext cx="2194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Auth/Alert/Rule
Forensics/Graph/Asset
mTLS/JWT/RBAC/审计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技术选型栈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自研创新与成熟开源组件组合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10 / 汇报材料</a:t>
            </a:r>
          </a:p>
        </p:txBody>
      </p:sp>
      <p:pic>
        <p:nvPicPr>
          <p:cNvPr id="6" name="Picture 5" descr="selection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部署拓扑与可靠性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平台服务与数据底座解耦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11 / 汇报材料</a:t>
            </a:r>
          </a:p>
        </p:txBody>
      </p:sp>
      <p:pic>
        <p:nvPicPr>
          <p:cNvPr id="6" name="Picture 5" descr="deployment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测试验收设计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需求、设计、实现、验证、第三方测试闭环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12 / 汇报材料</a:t>
            </a:r>
          </a:p>
        </p:txBody>
      </p:sp>
      <p:pic>
        <p:nvPicPr>
          <p:cNvPr id="6" name="Picture 5" descr="verification_v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研发路线图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四阶段计划与任务书/实施方案对齐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13 / 汇报材料</a:t>
            </a:r>
          </a:p>
        </p:txBody>
      </p:sp>
      <p:pic>
        <p:nvPicPr>
          <p:cNvPr id="6" name="Picture 5" descr="roadmap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09728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质量门禁与风险保障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用工程指标控制交付风险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14 / 汇报材料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4754880" cy="1143000"/>
          </a:xfrm>
          <a:prstGeom prst="roundRect">
            <a:avLst/>
          </a:prstGeom>
          <a:solidFill>
            <a:srgbClr val="D9EAF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性能风险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673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吞吐、P95延迟、丢包率、查询响应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43000"/>
            <a:ext cx="4754880" cy="114300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527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可靠性风险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6733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Checkpoint、DLQ、幂等、备份恢复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4754880" cy="1143000"/>
          </a:xfrm>
          <a:prstGeom prst="roundRect">
            <a:avLst/>
          </a:prstGeom>
          <a:solidFill>
            <a:srgbClr val="FFF3DC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融合风险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735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实体冲突、字段缺失、跨源关联错误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4754880" cy="1143000"/>
          </a:xfrm>
          <a:prstGeom prst="roundRect">
            <a:avLst/>
          </a:prstGeom>
          <a:solidFill>
            <a:srgbClr val="F1EAFE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8529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模型风险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735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规则漂移、误报上升、灰度发布失败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4754880" cy="1143000"/>
          </a:xfrm>
          <a:prstGeom prst="roundRect">
            <a:avLst/>
          </a:prstGeom>
          <a:solidFill>
            <a:srgbClr val="FFE9E7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45312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验收风险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7375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证据不足、报告不完整、第三方测试数据不可复现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047"/>
          </a:solidFill>
          <a:ln>
            <a:solidFill>
              <a:srgbClr val="123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18872"/>
            <a:ext cx="114300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最终交付物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74980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3687A"/>
                </a:solidFill>
                <a:latin typeface="Microsoft YaHei"/>
              </a:rPr>
              <a:t>形成完整的软件系统工程包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0" y="64922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7A8999"/>
                </a:solidFill>
                <a:latin typeface="Microsoft YaHei"/>
              </a:rPr>
              <a:t>15 / 汇报材料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《产品设计》：角色、场景、功能、交互、能力点细化、产品验收脚本。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《技术设计》：架构、子系统、数据血缘、接口契约、NFR、错误码、测试设计。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《技术选型》：逐项论证、评分矩阵、替换策略、风险补偿。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《研发计划》：阶段活动、WBS、RACI、交付清单、质量周报模板。</a:t>
            </a:r>
          </a:p>
          <a:p>
            <a:pPr>
              <a:spcAft>
                <a:spcPts val="600"/>
              </a:spcAft>
              <a:defRPr sz="1700">
                <a:solidFill>
                  <a:srgbClr val="1F2D3D"/>
                </a:solidFill>
                <a:latin typeface="Microsoft YaHei"/>
              </a:defRPr>
            </a:pPr>
            <a:r>
              <a:t>汇报PPT：面向评审/领导汇报，突出课题一业务底座与软件工程完整性。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892040"/>
            <a:ext cx="3291840" cy="822960"/>
          </a:xfrm>
          <a:prstGeom prst="roundRect">
            <a:avLst/>
          </a:prstGeom>
          <a:solidFill>
            <a:srgbClr val="EAF7EF"/>
          </a:solidFill>
          <a:ln>
            <a:solidFill>
              <a:srgbClr val="B8C7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5001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23047"/>
                </a:solidFill>
                <a:latin typeface="Microsoft YaHei"/>
              </a:rPr>
              <a:t>建议下一步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5422392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1F2D3D"/>
                </a:solidFill>
                <a:latin typeface="Microsoft YaHei"/>
              </a:rPr>
              <a:t>结合真实运行截图和压测数据
补齐第三方测试前材料包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